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4"/>
  </p:notesMasterIdLst>
  <p:sldIdLst>
    <p:sldId id="256" r:id="rId2"/>
    <p:sldId id="306" r:id="rId3"/>
    <p:sldId id="307" r:id="rId4"/>
    <p:sldId id="308" r:id="rId5"/>
    <p:sldId id="312" r:id="rId6"/>
    <p:sldId id="313" r:id="rId7"/>
    <p:sldId id="317" r:id="rId8"/>
    <p:sldId id="320" r:id="rId9"/>
    <p:sldId id="316" r:id="rId10"/>
    <p:sldId id="318" r:id="rId11"/>
    <p:sldId id="319" r:id="rId12"/>
    <p:sldId id="31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>
        <p:scale>
          <a:sx n="100" d="100"/>
          <a:sy n="100" d="100"/>
        </p:scale>
        <p:origin x="1002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E1231B2F-FD5B-424D-8DDD-2D1B540D51B7}"/>
    <pc:docChg chg="modSld">
      <pc:chgData name="MD. RAIHAN MAHMUD" userId="4a62f7df-4410-48f1-90fd-18890a1620a6" providerId="ADAL" clId="{E1231B2F-FD5B-424D-8DDD-2D1B540D51B7}" dt="2026-04-04T18:02:55.144" v="0" actId="20577"/>
      <pc:docMkLst>
        <pc:docMk/>
      </pc:docMkLst>
      <pc:sldChg chg="modSp mod">
        <pc:chgData name="MD. RAIHAN MAHMUD" userId="4a62f7df-4410-48f1-90fd-18890a1620a6" providerId="ADAL" clId="{E1231B2F-FD5B-424D-8DDD-2D1B540D51B7}" dt="2026-04-04T18:02:55.144" v="0" actId="20577"/>
        <pc:sldMkLst>
          <pc:docMk/>
          <pc:sldMk cId="2664565021" sldId="256"/>
        </pc:sldMkLst>
        <pc:spChg chg="mod">
          <ac:chgData name="MD. RAIHAN MAHMUD" userId="4a62f7df-4410-48f1-90fd-18890a1620a6" providerId="ADAL" clId="{E1231B2F-FD5B-424D-8DDD-2D1B540D51B7}" dt="2026-04-04T18:02:55.144" v="0" actId="20577"/>
          <ac:spMkLst>
            <pc:docMk/>
            <pc:sldMk cId="2664565021" sldId="256"/>
            <ac:spMk id="23" creationId="{0CADBF75-A870-4E01-9DB8-F57472A203D2}"/>
          </ac:spMkLst>
        </pc:spChg>
      </pc:sldChg>
    </pc:docChg>
  </pc:docChgLst>
  <pc:docChgLst>
    <pc:chgData name="MD. RAIHAN MAHMUD" userId="4a62f7df-4410-48f1-90fd-18890a1620a6" providerId="ADAL" clId="{B2039104-45D9-4CD2-BD34-02CB124718E6}"/>
    <pc:docChg chg="custSel modSld">
      <pc:chgData name="MD. RAIHAN MAHMUD" userId="4a62f7df-4410-48f1-90fd-18890a1620a6" providerId="ADAL" clId="{B2039104-45D9-4CD2-BD34-02CB124718E6}" dt="2025-12-17T02:01:02.409" v="55" actId="20577"/>
      <pc:docMkLst>
        <pc:docMk/>
      </pc:docMkLst>
      <pc:sldChg chg="delSp modSp mod">
        <pc:chgData name="MD. RAIHAN MAHMUD" userId="4a62f7df-4410-48f1-90fd-18890a1620a6" providerId="ADAL" clId="{B2039104-45D9-4CD2-BD34-02CB124718E6}" dt="2025-12-17T02:01:02.409" v="55" actId="20577"/>
        <pc:sldMkLst>
          <pc:docMk/>
          <pc:sldMk cId="2664565021" sldId="256"/>
        </pc:sldMkLst>
        <pc:spChg chg="mod">
          <ac:chgData name="MD. RAIHAN MAHMUD" userId="4a62f7df-4410-48f1-90fd-18890a1620a6" providerId="ADAL" clId="{B2039104-45D9-4CD2-BD34-02CB124718E6}" dt="2025-12-17T02:01:02.409" v="55" actId="20577"/>
          <ac:spMkLst>
            <pc:docMk/>
            <pc:sldMk cId="2664565021" sldId="256"/>
            <ac:spMk id="4" creationId="{E04C0DAA-D484-05AE-2D20-74F33F7B196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08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project estimation</a:t>
            </a:r>
            <a:endParaRPr lang="en-US" sz="3000" dirty="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366D5DC-9796-4FD1-4E64-0A5F277466B7}"/>
              </a:ext>
            </a:extLst>
          </p:cNvPr>
          <p:cNvSpPr txBox="1">
            <a:spLocks/>
          </p:cNvSpPr>
          <p:nvPr/>
        </p:nvSpPr>
        <p:spPr>
          <a:xfrm>
            <a:off x="4340941" y="3549444"/>
            <a:ext cx="7690191" cy="29575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marL="0"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cap="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C8EBB-31FE-2A17-8BD3-2AFA5B7006E3}"/>
              </a:ext>
            </a:extLst>
          </p:cNvPr>
          <p:cNvSpPr txBox="1"/>
          <p:nvPr/>
        </p:nvSpPr>
        <p:spPr>
          <a:xfrm>
            <a:off x="6285479" y="3308556"/>
            <a:ext cx="54239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</a:rPr>
              <a:t>Mahmudul Hasan (Mahmud)</a:t>
            </a:r>
          </a:p>
          <a:p>
            <a:r>
              <a:rPr lang="en-US" sz="3600" dirty="0"/>
              <a:t>mahmudul@aiub.edu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project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11469"/>
            <a:ext cx="10803166" cy="28434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/>
              <a:t>The overall goal of project planning is to establish a pragmatic strategy for controlling,  </a:t>
            </a:r>
            <a:br>
              <a:rPr lang="en-US" altLang="en-US" sz="2200" dirty="0"/>
            </a:br>
            <a:r>
              <a:rPr lang="en-US" altLang="en-US" sz="2200" dirty="0"/>
              <a:t> tracking, and monitoring a complex technical project.</a:t>
            </a:r>
          </a:p>
          <a:p>
            <a:pPr marL="0" indent="0">
              <a:buNone/>
            </a:pPr>
            <a:endParaRPr lang="en-US" altLang="en-US" sz="2200" i="1" dirty="0"/>
          </a:p>
          <a:p>
            <a:pPr marL="0" indent="0">
              <a:buNone/>
            </a:pPr>
            <a:r>
              <a:rPr lang="en-US" altLang="en-US" sz="2400" dirty="0">
                <a:solidFill>
                  <a:srgbClr val="C00000"/>
                </a:solidFill>
              </a:rPr>
              <a:t>WHY?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So the end result gets done on time, on budget, and with quality</a:t>
            </a:r>
            <a:endParaRPr lang="en-US" altLang="en-US" sz="2400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930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planning task set-1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331" y="1985553"/>
            <a:ext cx="10803166" cy="36706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Establish project scope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Determine feasibility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Analyze risks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Define required resources</a:t>
            </a:r>
          </a:p>
          <a:p>
            <a:pPr lvl="1">
              <a:spcBef>
                <a:spcPts val="300"/>
              </a:spcBef>
            </a:pPr>
            <a:r>
              <a:rPr lang="en-US" altLang="en-US" sz="2200" dirty="0">
                <a:ea typeface="ＭＳ Ｐゴシック" panose="020B0600070205080204" pitchFamily="34" charset="-128"/>
              </a:rPr>
              <a:t>Determine require human resources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Define reusable software resources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Identify environmental resources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AAF17236-9CD0-40E6-B4A0-97FD026E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4707" y="1843278"/>
            <a:ext cx="5351470" cy="445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7D904D43-DF9F-474C-B434-8D8EC0F94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400" y="5687277"/>
            <a:ext cx="271925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dirty="0"/>
              <a:t>Off-the-shelf</a:t>
            </a:r>
            <a:r>
              <a:rPr lang="en-US" altLang="en-US" sz="1600" dirty="0"/>
              <a:t>: Available in the stock, reuse as it is</a:t>
            </a:r>
          </a:p>
        </p:txBody>
      </p:sp>
    </p:spTree>
    <p:extLst>
      <p:ext uri="{BB962C8B-B14F-4D97-AF65-F5344CB8AC3E}">
        <p14:creationId xmlns:p14="http://schemas.microsoft.com/office/powerpoint/2010/main" val="73811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planning task set-ii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11468"/>
            <a:ext cx="10803166" cy="456770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Estimate cost and effort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ea typeface="ＭＳ Ｐゴシック" panose="020B0600070205080204" pitchFamily="34" charset="-128"/>
              </a:rPr>
              <a:t>Decompose the problem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Develop </a:t>
            </a:r>
            <a:r>
              <a:rPr lang="en-US" altLang="en-US" sz="20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two or more estimates </a:t>
            </a:r>
            <a:r>
              <a:rPr lang="en-US" altLang="en-US" sz="2000" dirty="0">
                <a:ea typeface="ＭＳ Ｐゴシック" panose="020B0600070205080204" pitchFamily="34" charset="-128"/>
              </a:rPr>
              <a:t>using size, function points, process tasks (complexity), </a:t>
            </a:r>
          </a:p>
          <a:p>
            <a:pPr lvl="1"/>
            <a:r>
              <a:rPr lang="en-US" altLang="en-US" sz="2000" dirty="0">
                <a:ea typeface="ＭＳ Ｐゴシック" panose="020B0600070205080204" pitchFamily="34" charset="-128"/>
              </a:rPr>
              <a:t>Reconcile the estimates</a:t>
            </a:r>
          </a:p>
          <a:p>
            <a:pPr lvl="1"/>
            <a:endParaRPr lang="en-US" altLang="en-US" sz="2000" dirty="0">
              <a:ea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q"/>
            </a:pPr>
            <a:r>
              <a:rPr lang="en-US" altLang="en-US" sz="2000" dirty="0">
                <a:ea typeface="ＭＳ Ｐゴシック" panose="020B0600070205080204" pitchFamily="34" charset="-128"/>
              </a:rPr>
              <a:t>Develop a project schedule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ea typeface="ＭＳ Ｐゴシック" panose="020B0600070205080204" pitchFamily="34" charset="-128"/>
              </a:rPr>
              <a:t>Establish a meaningful task set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ea typeface="ＭＳ Ｐゴシック" panose="020B0600070205080204" pitchFamily="34" charset="-128"/>
              </a:rPr>
              <a:t>Define a task network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ea typeface="ＭＳ Ｐゴシック" panose="020B0600070205080204" pitchFamily="34" charset="-128"/>
              </a:rPr>
              <a:t>Use scheduling tools to develop a timeline chart</a:t>
            </a:r>
          </a:p>
          <a:p>
            <a:pPr lvl="1">
              <a:spcBef>
                <a:spcPts val="300"/>
              </a:spcBef>
            </a:pPr>
            <a:r>
              <a:rPr lang="en-US" altLang="en-US" sz="2000" dirty="0">
                <a:ea typeface="ＭＳ Ｐゴシック" panose="020B0600070205080204" pitchFamily="34" charset="-128"/>
              </a:rPr>
              <a:t>Define schedule tracking mechanisms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870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estimation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11469"/>
            <a:ext cx="11044934" cy="2725846"/>
          </a:xfrm>
        </p:spPr>
        <p:txBody>
          <a:bodyPr>
            <a:noAutofit/>
          </a:bodyPr>
          <a:lstStyle/>
          <a:p>
            <a:r>
              <a:rPr lang="en-US" altLang="en-US" sz="2200" dirty="0">
                <a:ea typeface="ＭＳ Ｐゴシック" panose="020B0600070205080204" pitchFamily="34" charset="-128"/>
              </a:rPr>
              <a:t>Project scope must be understood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Elaboration (decomposition) is necessary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Historical metrics (pervious data) are very helpful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At least two different techniques should be used</a:t>
            </a:r>
          </a:p>
          <a:p>
            <a:r>
              <a:rPr lang="en-US" altLang="en-US" sz="2200" dirty="0">
                <a:ea typeface="ＭＳ Ｐゴシック" panose="020B0600070205080204" pitchFamily="34" charset="-128"/>
              </a:rPr>
              <a:t>Uncertainty is inherent in the process</a:t>
            </a:r>
            <a:endParaRPr lang="en-US" altLang="en-US" sz="2000" dirty="0">
              <a:ea typeface="ＭＳ Ｐゴシック" panose="020B0600070205080204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9273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Conventional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013" y="1963721"/>
            <a:ext cx="10933795" cy="336365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Conventional estimation techniques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 task breakdown and effort estimates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 size (e.g., LOC/FP) estimates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 compute LOC/FP using estimates of information domain values</a:t>
            </a:r>
          </a:p>
          <a:p>
            <a:pPr lvl="1"/>
            <a:r>
              <a:rPr lang="en-US" altLang="en-US" sz="2200" dirty="0">
                <a:ea typeface="ＭＳ Ｐゴシック" panose="020B0600070205080204" pitchFamily="34" charset="-128"/>
              </a:rPr>
              <a:t> use historical data (previous experience) to build estimates for the project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200" dirty="0">
                <a:ea typeface="ＭＳ Ｐゴシック" panose="020B0600070205080204" pitchFamily="34" charset="-128"/>
              </a:rPr>
              <a:t>Automated tools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8542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estimation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8" y="1996831"/>
            <a:ext cx="11286392" cy="444206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defRPr/>
            </a:pP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A dynamic multivariable model for effort estimation</a:t>
            </a:r>
            <a:b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</a:b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			</a:t>
            </a:r>
            <a:r>
              <a:rPr lang="en-US" sz="2000" b="1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E = [LOC x B</a:t>
            </a:r>
            <a:r>
              <a:rPr lang="en-US" sz="2000" b="1" baseline="30000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0.333</a:t>
            </a:r>
            <a:r>
              <a:rPr lang="en-US" sz="2000" b="1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/P]</a:t>
            </a:r>
            <a:r>
              <a:rPr lang="en-US" sz="2000" b="1" baseline="30000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3</a:t>
            </a:r>
            <a:r>
              <a:rPr lang="en-US" sz="2000" b="1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  x (1/t</a:t>
            </a:r>
            <a:r>
              <a:rPr lang="en-US" sz="2000" b="1" baseline="30000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4</a:t>
            </a:r>
            <a:r>
              <a:rPr lang="en-US" sz="2000" b="1" dirty="0">
                <a:solidFill>
                  <a:srgbClr val="C00000"/>
                </a:solidFill>
                <a:latin typeface="Helvetica" charset="0"/>
                <a:ea typeface="ＭＳ Ｐゴシック" charset="-128"/>
              </a:rPr>
              <a:t>)</a:t>
            </a:r>
            <a:endParaRPr lang="en-US" sz="2000" i="1" dirty="0">
              <a:solidFill>
                <a:srgbClr val="C00000"/>
              </a:solidFill>
              <a:latin typeface="Helvetica" charset="0"/>
              <a:ea typeface="ＭＳ Ｐゴシック" charset="-128"/>
            </a:endParaRPr>
          </a:p>
          <a:p>
            <a:pPr marL="0" indent="0">
              <a:buNone/>
            </a:pPr>
            <a:endParaRPr lang="en-US" altLang="en-US" sz="2000" b="1" dirty="0">
              <a:latin typeface="+mj-lt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Where,</a:t>
            </a: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E = Effort in person-months or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anose="020B0604020202020204" pitchFamily="34" charset="0"/>
                <a:ea typeface="ＭＳ Ｐゴシック" charset="-128"/>
                <a:cs typeface="Helvetica" panose="020B0604020202020204" pitchFamily="34" charset="0"/>
              </a:rPr>
              <a:t>person-years (</a:t>
            </a: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the amount of time, personnel devote to a </a:t>
            </a:r>
            <a:b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                    specific project)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Helvetica" panose="020B0604020202020204" pitchFamily="34" charset="0"/>
              <a:ea typeface="ＭＳ Ｐゴシック" charset="-128"/>
              <a:cs typeface="Helvetica" panose="020B0604020202020204" pitchFamily="34" charset="0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t = Project duration in months or years</a:t>
            </a: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B = Productivity Factors</a:t>
            </a:r>
            <a:endParaRPr lang="en-US" sz="1600" dirty="0"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  <a:p>
            <a:pPr marL="0" indent="0">
              <a:spcBef>
                <a:spcPts val="300"/>
              </a:spcBef>
              <a:buNone/>
              <a:defRPr/>
            </a:pPr>
            <a:r>
              <a:rPr lang="en-US" sz="16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		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P = Productivity Parameter             </a:t>
            </a:r>
          </a:p>
          <a:p>
            <a:pPr marL="0" indent="0">
              <a:buNone/>
            </a:pPr>
            <a:endParaRPr lang="en-US" altLang="en-US" sz="2000" b="1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4597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(</a:t>
            </a:r>
            <a:r>
              <a:rPr lang="en-US" dirty="0">
                <a:solidFill>
                  <a:srgbClr val="C00000"/>
                </a:solidFill>
              </a:rPr>
              <a:t>Co</a:t>
            </a:r>
            <a:r>
              <a:rPr lang="en-US" dirty="0"/>
              <a:t>nstructive </a:t>
            </a:r>
            <a:r>
              <a:rPr lang="en-US" dirty="0">
                <a:solidFill>
                  <a:srgbClr val="C00000"/>
                </a:solidFill>
              </a:rPr>
              <a:t>Co</a:t>
            </a:r>
            <a:r>
              <a:rPr lang="en-US" dirty="0"/>
              <a:t>st </a:t>
            </a:r>
            <a:r>
              <a:rPr lang="en-US" dirty="0">
                <a:solidFill>
                  <a:srgbClr val="C00000"/>
                </a:solidFill>
              </a:rPr>
              <a:t>Mo</a:t>
            </a:r>
            <a:r>
              <a:rPr lang="en-US" dirty="0"/>
              <a:t>del)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8" y="1996831"/>
            <a:ext cx="11286392" cy="444206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/>
              <a:t>Based on SLOC characteristic, and operates according to the following equations: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000" b="1" dirty="0">
                <a:solidFill>
                  <a:srgbClr val="C00000"/>
                </a:solidFill>
                <a:latin typeface="Bell MT" pitchFamily="18" charset="0"/>
              </a:rPr>
              <a:t>Effort = PM = Coefficient</a:t>
            </a:r>
            <a:r>
              <a:rPr lang="en-US" altLang="en-US" sz="2000" b="1" baseline="-25000" dirty="0">
                <a:solidFill>
                  <a:srgbClr val="C00000"/>
                </a:solidFill>
                <a:latin typeface="Bell MT" pitchFamily="18" charset="0"/>
              </a:rPr>
              <a:t>&lt;Effort Factor&gt;</a:t>
            </a:r>
            <a:r>
              <a:rPr lang="en-US" altLang="en-US" sz="2000" b="1" dirty="0">
                <a:solidFill>
                  <a:srgbClr val="C00000"/>
                </a:solidFill>
                <a:latin typeface="Bell MT" pitchFamily="18" charset="0"/>
              </a:rPr>
              <a:t>*(SLOC/1000)^P        </a:t>
            </a:r>
            <a:r>
              <a:rPr lang="en-US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[100,000 SLOC/1000  = 100k SLOC]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Development time = DM = 2.50*(PM)^T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Required number of people = ST = PM/DM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PM</a:t>
            </a:r>
            <a:r>
              <a:rPr lang="en-US" sz="2000" b="1" dirty="0">
                <a:solidFill>
                  <a:srgbClr val="C00000"/>
                </a:solidFill>
              </a:rPr>
              <a:t> :</a:t>
            </a:r>
            <a:r>
              <a:rPr lang="en-US" sz="2000" dirty="0"/>
              <a:t> person-months needed for project (labor working hours)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SLOC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source lines of code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project complexity (1.04-1.24)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DM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duration time in months for project (week days)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SLOC-dependent coefficient (0.32-0.38)</a:t>
            </a:r>
            <a:br>
              <a:rPr lang="en-US" sz="2000" dirty="0"/>
            </a:b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</a:t>
            </a:r>
            <a:r>
              <a:rPr lang="en-US" sz="2000" b="1" dirty="0">
                <a:solidFill>
                  <a:srgbClr val="C00000"/>
                </a:solidFill>
              </a:rPr>
              <a:t> :  </a:t>
            </a:r>
            <a:r>
              <a:rPr lang="en-US" sz="2000" dirty="0"/>
              <a:t>average staffing necessary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8</a:t>
            </a:fld>
            <a:endParaRPr lang="en-US" sz="14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4686534"/>
          <a:ext cx="5435599" cy="17523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58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0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Software</a:t>
                      </a:r>
                      <a:r>
                        <a:rPr lang="en-US" sz="1800" b="1" baseline="0" dirty="0"/>
                        <a:t> Project Type</a:t>
                      </a:r>
                      <a:endParaRPr lang="en-US" sz="1800" b="1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Coefficient</a:t>
                      </a:r>
                      <a:br>
                        <a:rPr lang="en-US" sz="1800" b="1" dirty="0"/>
                      </a:br>
                      <a:r>
                        <a:rPr lang="en-US" sz="1800" b="1" baseline="-25000" dirty="0"/>
                        <a:t>&lt;Effort Factor&gt;</a:t>
                      </a:r>
                      <a:endParaRPr lang="en-US" sz="1800" b="1" dirty="0"/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Organic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2.4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1.05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0.38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Semi-detached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1.12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0.35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Embedded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3.6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1.20</a:t>
                      </a:r>
                    </a:p>
                  </a:txBody>
                  <a:tcPr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0.32</a:t>
                      </a:r>
                    </a:p>
                  </a:txBody>
                  <a:tcPr marT="45711" marB="4571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86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COCOMO (</a:t>
            </a:r>
            <a:r>
              <a:rPr lang="en-US" dirty="0">
                <a:solidFill>
                  <a:srgbClr val="C00000"/>
                </a:solidFill>
              </a:rPr>
              <a:t>Co</a:t>
            </a:r>
            <a:r>
              <a:rPr lang="en-US" dirty="0"/>
              <a:t>nstructive  </a:t>
            </a:r>
            <a:r>
              <a:rPr lang="en-US" dirty="0">
                <a:solidFill>
                  <a:srgbClr val="C00000"/>
                </a:solidFill>
              </a:rPr>
              <a:t>Co</a:t>
            </a:r>
            <a:r>
              <a:rPr lang="en-US" dirty="0"/>
              <a:t>st  </a:t>
            </a:r>
            <a:r>
              <a:rPr lang="en-US" dirty="0">
                <a:solidFill>
                  <a:srgbClr val="C00000"/>
                </a:solidFill>
              </a:rPr>
              <a:t>Mo</a:t>
            </a:r>
            <a:r>
              <a:rPr lang="en-US" dirty="0"/>
              <a:t>del)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0007" y="1996832"/>
            <a:ext cx="11350255" cy="3894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+mj-lt"/>
              </a:rPr>
              <a:t>Organic: </a:t>
            </a:r>
            <a:r>
              <a:rPr lang="en-US" sz="2200" dirty="0"/>
              <a:t>relatively small, simple software projects in which a small teams with good application experience work to a software development project (e.g. showing VUES information to webpage)</a:t>
            </a:r>
            <a:endParaRPr lang="en-US" sz="2200" b="1" dirty="0">
              <a:solidFill>
                <a:srgbClr val="C00000"/>
              </a:solidFill>
              <a:latin typeface="+mj-lt"/>
            </a:endParaRPr>
          </a:p>
          <a:p>
            <a:pPr marL="0" indent="0">
              <a:buNone/>
            </a:pPr>
            <a:br>
              <a:rPr lang="en-US" sz="2200" dirty="0">
                <a:latin typeface="+mj-lt"/>
              </a:rPr>
            </a:br>
            <a:r>
              <a:rPr lang="en-US" sz="2200" b="1" dirty="0">
                <a:solidFill>
                  <a:srgbClr val="C00000"/>
                </a:solidFill>
                <a:latin typeface="+mj-lt"/>
              </a:rPr>
              <a:t>Semidetached:</a:t>
            </a:r>
            <a:r>
              <a:rPr lang="en-US" sz="2200" b="1" dirty="0">
                <a:latin typeface="+mj-lt"/>
              </a:rPr>
              <a:t> </a:t>
            </a:r>
            <a:r>
              <a:rPr lang="en-US" sz="2200" dirty="0"/>
              <a:t>an intermediate (in size and complexity) software project in which teams with mixed experience levels works in a mix of hardware and software application (e.g. biometric log-in time saved in VUES database) </a:t>
            </a:r>
            <a:endParaRPr lang="en-US" sz="2200" b="1" dirty="0">
              <a:latin typeface="+mj-lt"/>
            </a:endParaRPr>
          </a:p>
          <a:p>
            <a:pPr marL="0" indent="0">
              <a:buNone/>
            </a:pPr>
            <a:br>
              <a:rPr lang="en-US" sz="2200" b="1" dirty="0">
                <a:latin typeface="+mj-lt"/>
              </a:rPr>
            </a:br>
            <a:r>
              <a:rPr lang="en-US" sz="2200" b="1" dirty="0">
                <a:solidFill>
                  <a:srgbClr val="C00000"/>
                </a:solidFill>
                <a:latin typeface="+mj-lt"/>
              </a:rPr>
              <a:t>Embedded:  </a:t>
            </a:r>
            <a:r>
              <a:rPr lang="en-US" sz="2200" dirty="0"/>
              <a:t>A software project that must be developed within a strongly coupled to hardware environment (e.g. biometric device, elevator)</a:t>
            </a:r>
            <a:endParaRPr lang="en-US" sz="22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9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8412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Make-buy decision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10</a:t>
            </a:fld>
            <a:endParaRPr lang="en-US" sz="1400" b="1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568" y="1957250"/>
            <a:ext cx="7556863" cy="4796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556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expected cost from decision tree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766177" y="605118"/>
            <a:ext cx="273423" cy="956981"/>
          </a:xfrm>
        </p:spPr>
        <p:txBody>
          <a:bodyPr vert="vert270"/>
          <a:lstStyle/>
          <a:p>
            <a:r>
              <a:rPr lang="en-US" sz="1400" b="1" dirty="0"/>
              <a:t>Slide-</a:t>
            </a:r>
            <a:fld id="{D57F1E4F-1CFF-5643-939E-217C01CDF565}" type="slidenum">
              <a:rPr lang="en-US" sz="1400" b="1" smtClean="0"/>
              <a:pPr/>
              <a:t>11</a:t>
            </a:fld>
            <a:endParaRPr lang="en-US" sz="1400" b="1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955137" y="2055567"/>
            <a:ext cx="8625778" cy="987425"/>
          </a:xfrm>
          <a:prstGeom prst="rect">
            <a:avLst/>
          </a:prstGeom>
          <a:solidFill>
            <a:srgbClr val="C00000"/>
          </a:solidFill>
          <a:ln w="12700">
            <a:noFill/>
            <a:miter lim="800000"/>
            <a:headEnd/>
            <a:tailEnd/>
          </a:ln>
          <a:effectLst>
            <a:outerShdw dist="71842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bg1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61339" y="2217127"/>
            <a:ext cx="5988948" cy="363538"/>
          </a:xfrm>
          <a:prstGeom prst="rect">
            <a:avLst/>
          </a:prstGeom>
          <a:solidFill>
            <a:srgbClr val="C00000"/>
          </a:solidFill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    </a:t>
            </a: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((path probability)    </a:t>
            </a:r>
            <a:r>
              <a:rPr lang="en-US" sz="1800" dirty="0">
                <a:solidFill>
                  <a:schemeClr val="bg1"/>
                </a:solidFill>
                <a:latin typeface="Helvetica" charset="0"/>
                <a:ea typeface="ＭＳ Ｐゴシック" charset="-128"/>
              </a:rPr>
              <a:t>x</a:t>
            </a:r>
            <a:r>
              <a:rPr 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  (estimated path cost) </a:t>
            </a:r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auto">
          <a:xfrm>
            <a:off x="2824416" y="2258202"/>
            <a:ext cx="2062745" cy="3635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chemeClr val="bg1"/>
                </a:solidFill>
                <a:latin typeface="Helvetica" panose="020B0604020202020204" pitchFamily="34" charset="0"/>
              </a:rPr>
              <a:t>expected cost =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6634980" y="2395424"/>
            <a:ext cx="2444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i</a:t>
            </a:r>
            <a:endParaRPr 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9430432" y="2365307"/>
            <a:ext cx="2444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8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charset="0"/>
                <a:ea typeface="ＭＳ Ｐゴシック" charset="-128"/>
              </a:rPr>
              <a:t>i</a:t>
            </a:r>
            <a:endParaRPr 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260565" y="3363667"/>
            <a:ext cx="4337725" cy="33598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For example, the expected cost to build is: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470043" y="3373096"/>
            <a:ext cx="4531689" cy="5822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expected cost  = 0.30 ($380K) + 0.70 ($450K) </a:t>
            </a:r>
          </a:p>
          <a:p>
            <a:pPr>
              <a:defRPr/>
            </a:pPr>
            <a:endParaRPr lang="en-US" sz="1600" b="1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elvetica" charset="0"/>
              <a:ea typeface="ＭＳ Ｐゴシック" charset="-128"/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57400" y="4419600"/>
            <a:ext cx="10620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i="1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similarly,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2057400" y="4876800"/>
            <a:ext cx="59070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$382K</a:t>
            </a:r>
          </a:p>
          <a:p>
            <a:endParaRPr lang="en-US" altLang="en-US" sz="1600" b="1">
              <a:solidFill>
                <a:srgbClr val="002060"/>
              </a:solidFill>
              <a:latin typeface="Helvetica" panose="020B0604020202020204" pitchFamily="34" charset="0"/>
            </a:endParaRPr>
          </a:p>
        </p:txBody>
      </p: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2057400" y="5334000"/>
            <a:ext cx="5907088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$267K</a:t>
            </a:r>
          </a:p>
          <a:p>
            <a:endParaRPr lang="en-US" altLang="en-US" sz="1600" b="1">
              <a:solidFill>
                <a:srgbClr val="002060"/>
              </a:solidFill>
              <a:latin typeface="Helvetica" panose="020B0604020202020204" pitchFamily="34" charset="0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auto">
          <a:xfrm>
            <a:off x="2057400" y="5775325"/>
            <a:ext cx="5678488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>
                <a:solidFill>
                  <a:srgbClr val="002060"/>
                </a:solidFill>
                <a:latin typeface="Helvetica" panose="020B0604020202020204" pitchFamily="34" charset="0"/>
              </a:rPr>
              <a:t>expected cost          = $410K</a:t>
            </a:r>
          </a:p>
        </p:txBody>
      </p:sp>
      <p:sp>
        <p:nvSpPr>
          <p:cNvPr id="18" name="Rectangle 22"/>
          <p:cNvSpPr>
            <a:spLocks noChangeArrowheads="1"/>
          </p:cNvSpPr>
          <p:nvPr/>
        </p:nvSpPr>
        <p:spPr bwMode="auto">
          <a:xfrm>
            <a:off x="3429000" y="5029200"/>
            <a:ext cx="1028700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dirty="0">
                <a:solidFill>
                  <a:srgbClr val="C00000"/>
                </a:solidFill>
                <a:latin typeface="Helvetica" panose="020B0604020202020204" pitchFamily="34" charset="0"/>
              </a:rPr>
              <a:t>reuse</a:t>
            </a:r>
          </a:p>
        </p:txBody>
      </p:sp>
      <p:sp>
        <p:nvSpPr>
          <p:cNvPr id="19" name="Rectangle 23"/>
          <p:cNvSpPr>
            <a:spLocks noChangeArrowheads="1"/>
          </p:cNvSpPr>
          <p:nvPr/>
        </p:nvSpPr>
        <p:spPr bwMode="auto">
          <a:xfrm>
            <a:off x="3429000" y="5486400"/>
            <a:ext cx="868363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dirty="0">
                <a:solidFill>
                  <a:srgbClr val="C00000"/>
                </a:solidFill>
                <a:latin typeface="Helvetica" panose="020B0604020202020204" pitchFamily="34" charset="0"/>
              </a:rPr>
              <a:t>buy</a:t>
            </a:r>
          </a:p>
        </p:txBody>
      </p:sp>
      <p:sp>
        <p:nvSpPr>
          <p:cNvPr id="20" name="Rectangle 24"/>
          <p:cNvSpPr>
            <a:spLocks noChangeArrowheads="1"/>
          </p:cNvSpPr>
          <p:nvPr/>
        </p:nvSpPr>
        <p:spPr bwMode="auto">
          <a:xfrm>
            <a:off x="3429000" y="5943600"/>
            <a:ext cx="941388" cy="333375"/>
          </a:xfrm>
          <a:prstGeom prst="rect">
            <a:avLst/>
          </a:prstGeom>
          <a:noFill/>
          <a:ln>
            <a:noFill/>
          </a:ln>
        </p:spPr>
        <p:txBody>
          <a:bodyPr lIns="90487" tIns="44450" rIns="90487" bIns="4445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1" dirty="0" err="1">
                <a:solidFill>
                  <a:srgbClr val="C00000"/>
                </a:solidFill>
                <a:latin typeface="Helvetica" panose="020B0604020202020204" pitchFamily="34" charset="0"/>
              </a:rPr>
              <a:t>contr</a:t>
            </a:r>
            <a:endParaRPr lang="en-US" altLang="en-US" sz="1600" b="1" dirty="0">
              <a:solidFill>
                <a:srgbClr val="C00000"/>
              </a:solidFill>
              <a:latin typeface="Helvetica" panose="020B0604020202020204" pitchFamily="34" charset="0"/>
            </a:endParaRPr>
          </a:p>
        </p:txBody>
      </p:sp>
      <p:sp>
        <p:nvSpPr>
          <p:cNvPr id="21" name="Rectangle 26"/>
          <p:cNvSpPr>
            <a:spLocks noChangeArrowheads="1"/>
          </p:cNvSpPr>
          <p:nvPr/>
        </p:nvSpPr>
        <p:spPr bwMode="auto">
          <a:xfrm>
            <a:off x="9807768" y="3398963"/>
            <a:ext cx="101123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16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charset="0"/>
                <a:ea typeface="ＭＳ Ｐゴシック" charset="-128"/>
              </a:rPr>
              <a:t>= $429 K</a:t>
            </a:r>
          </a:p>
        </p:txBody>
      </p:sp>
    </p:spTree>
    <p:extLst>
      <p:ext uri="{BB962C8B-B14F-4D97-AF65-F5344CB8AC3E}">
        <p14:creationId xmlns:p14="http://schemas.microsoft.com/office/powerpoint/2010/main" val="260123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5DA984333FD546973CE7726546D7B5" ma:contentTypeVersion="3" ma:contentTypeDescription="Create a new document." ma:contentTypeScope="" ma:versionID="e191194dc671b17c021b824bfc79c433">
  <xsd:schema xmlns:xsd="http://www.w3.org/2001/XMLSchema" xmlns:xs="http://www.w3.org/2001/XMLSchema" xmlns:p="http://schemas.microsoft.com/office/2006/metadata/properties" xmlns:ns2="6aec9209-d37d-4465-b920-91174d0c1a3e" targetNamespace="http://schemas.microsoft.com/office/2006/metadata/properties" ma:root="true" ma:fieldsID="ace0ee125b73ec2ab930ba3e5583a86b" ns2:_="">
    <xsd:import namespace="6aec9209-d37d-4465-b920-91174d0c1a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ec9209-d37d-4465-b920-91174d0c1a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8E60F9-BBFD-4E5A-A93C-6F7EC95C4901}"/>
</file>

<file path=customXml/itemProps2.xml><?xml version="1.0" encoding="utf-8"?>
<ds:datastoreItem xmlns:ds="http://schemas.openxmlformats.org/officeDocument/2006/customXml" ds:itemID="{E1A845CF-7011-4A9A-86FF-6DFE51E4D767}"/>
</file>

<file path=customXml/itemProps3.xml><?xml version="1.0" encoding="utf-8"?>
<ds:datastoreItem xmlns:ds="http://schemas.openxmlformats.org/officeDocument/2006/customXml" ds:itemID="{F52E5660-E55B-49D1-AC96-C0512DBD4155}"/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781</Words>
  <Application>Microsoft Office PowerPoint</Application>
  <PresentationFormat>Widescreen</PresentationFormat>
  <Paragraphs>112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ＭＳ Ｐゴシック</vt:lpstr>
      <vt:lpstr>Arial</vt:lpstr>
      <vt:lpstr>Bell MT</vt:lpstr>
      <vt:lpstr>Calibri</vt:lpstr>
      <vt:lpstr>Courier New</vt:lpstr>
      <vt:lpstr>Gill Sans MT</vt:lpstr>
      <vt:lpstr>Helvetica</vt:lpstr>
      <vt:lpstr>Wingdings</vt:lpstr>
      <vt:lpstr>Wingdings 2</vt:lpstr>
      <vt:lpstr>Dividend</vt:lpstr>
      <vt:lpstr>PowerPoint Presentation</vt:lpstr>
      <vt:lpstr>Software project planning</vt:lpstr>
      <vt:lpstr>project planning task set-1</vt:lpstr>
      <vt:lpstr>project planning task set-ii</vt:lpstr>
      <vt:lpstr>Project estimation Principles</vt:lpstr>
      <vt:lpstr>Conventional Method</vt:lpstr>
      <vt:lpstr>Effort estimation</vt:lpstr>
      <vt:lpstr>COCOMO (Constructive Cost Model)</vt:lpstr>
      <vt:lpstr>COCOMO (Constructive  Cost  Model)</vt:lpstr>
      <vt:lpstr>Make-buy decision</vt:lpstr>
      <vt:lpstr>Computing expected cost from decision tree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Ch.14 - Software Project Estimation</dc:title>
  <dc:subject>Software Engineering</dc:subject>
  <dc:creator>M. Mahmudul Hasan</dc:creator>
  <cp:lastModifiedBy>MAHMUDUL HASAN</cp:lastModifiedBy>
  <cp:revision>39</cp:revision>
  <dcterms:created xsi:type="dcterms:W3CDTF">2019-05-13T08:37:20Z</dcterms:created>
  <dcterms:modified xsi:type="dcterms:W3CDTF">2026-04-06T05:08:00Z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0x010100515DA984333FD546973CE7726546D7B5</vt:lpwstr>
  </property>
</Properties>
</file>